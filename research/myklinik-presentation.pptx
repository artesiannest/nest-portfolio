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Noto Sans SC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EtHjwyirUe1ZrOMfK/akOCiEk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SC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otoSansS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98B89"/>
              </a:buClr>
              <a:buSzPts val="3200"/>
              <a:buNone/>
              <a:defRPr>
                <a:solidFill>
                  <a:srgbClr val="898B89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98B89"/>
              </a:buClr>
              <a:buSzPts val="2800"/>
              <a:buNone/>
              <a:defRPr>
                <a:solidFill>
                  <a:srgbClr val="898B89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98B89"/>
              </a:buClr>
              <a:buSzPts val="2400"/>
              <a:buNone/>
              <a:defRPr>
                <a:solidFill>
                  <a:srgbClr val="898B89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>
                <a:solidFill>
                  <a:srgbClr val="898B89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98B89"/>
              </a:buClr>
              <a:buSzPts val="2000"/>
              <a:buNone/>
              <a:defRPr sz="2000">
                <a:solidFill>
                  <a:srgbClr val="898B89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98B89"/>
              </a:buClr>
              <a:buSzPts val="1800"/>
              <a:buNone/>
              <a:defRPr sz="1800">
                <a:solidFill>
                  <a:srgbClr val="898B89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98B89"/>
              </a:buClr>
              <a:buSzPts val="1600"/>
              <a:buNone/>
              <a:defRPr sz="1600">
                <a:solidFill>
                  <a:srgbClr val="898B89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98B89"/>
              </a:buClr>
              <a:buSzPts val="1400"/>
              <a:buNone/>
              <a:defRPr sz="1400">
                <a:solidFill>
                  <a:srgbClr val="898B89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98B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6.jpg"/><Relationship Id="rId5" Type="http://schemas.openxmlformats.org/officeDocument/2006/relationships/image" Target="../media/image10.jpg"/><Relationship Id="rId6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93221" y="1525651"/>
            <a:ext cx="7121571" cy="2085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MyKlinik.id System Quality Analysis Using ISO/IEC 25000 (SQuaRE)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612271" y="4885552"/>
            <a:ext cx="28003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972025007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747688" y="287303"/>
            <a:ext cx="4824547" cy="977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747688" y="2671419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443013" y="2722854"/>
            <a:ext cx="5724525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GAP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47688" y="1988736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443013" y="2003907"/>
            <a:ext cx="5724525" cy="280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Introduction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47688" y="3401133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443013" y="3453520"/>
            <a:ext cx="57245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methodology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47688" y="4105193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443013" y="4135570"/>
            <a:ext cx="5724525" cy="280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Results and Discussion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47688" y="4808108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444107" y="4838484"/>
            <a:ext cx="57245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 and Suggestions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61646" y="5548982"/>
            <a:ext cx="79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456971" y="5600416"/>
            <a:ext cx="57245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323"/>
                </a:solidFill>
                <a:latin typeface="Noto Sans SC"/>
                <a:ea typeface="Noto Sans SC"/>
                <a:cs typeface="Noto Sans SC"/>
                <a:sym typeface="Noto Sans SC"/>
              </a:rPr>
              <a:t>Appendix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3947160" y="1300388"/>
            <a:ext cx="4297680" cy="1522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50" u="none" cap="none" strike="noStrike">
                <a:solidFill>
                  <a:srgbClr val="1ACA6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811474" y="2886383"/>
            <a:ext cx="8569053" cy="2874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37512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300882" y="1463721"/>
            <a:ext cx="6886575" cy="76590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Technological integration in healthcare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300882" y="1998589"/>
            <a:ext cx="6891292" cy="1083679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use of information technology in clinics like IsawaBeauty Clinic Tangerang is essential to ensure speedy, effective, and accurate medical and administrative processes.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37512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1300882" y="3182098"/>
            <a:ext cx="6886575" cy="7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Role of MyKlinik.id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37512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300882" y="4920230"/>
            <a:ext cx="6886575" cy="73418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Need for standardized evaluation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300882" y="3741456"/>
            <a:ext cx="6891292" cy="10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MyKlinik.id serves as the primary information system for patient registration, medical record management, billing, and operational reporting, making it a strategic component in maintaining service quality.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1300882" y="5424019"/>
            <a:ext cx="6891292" cy="109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To ensure the application meets operational demands, a standardized quality evaluation using ISO/IEC 25000 (SQuaRE) is imperative, focusing on software quality attributes like functionality, reliability, usability, and security.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 b="27027" l="0" r="0" t="27027"/>
          <a:stretch/>
        </p:blipFill>
        <p:spPr>
          <a:xfrm>
            <a:off x="8604472" y="1741145"/>
            <a:ext cx="4421505" cy="4421505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25" name="Google Shape;125;p4"/>
          <p:cNvCxnSpPr/>
          <p:nvPr/>
        </p:nvCxnSpPr>
        <p:spPr>
          <a:xfrm>
            <a:off x="856577" y="2403263"/>
            <a:ext cx="0" cy="896335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4"/>
          <p:cNvCxnSpPr/>
          <p:nvPr/>
        </p:nvCxnSpPr>
        <p:spPr>
          <a:xfrm>
            <a:off x="856577" y="4124852"/>
            <a:ext cx="0" cy="896335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4"/>
          <p:cNvSpPr txBox="1"/>
          <p:nvPr/>
        </p:nvSpPr>
        <p:spPr>
          <a:xfrm>
            <a:off x="688937" y="1685237"/>
            <a:ext cx="335280" cy="596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88925" y="3405562"/>
            <a:ext cx="535305" cy="596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588925" y="5125887"/>
            <a:ext cx="535305" cy="596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919643" y="1243502"/>
            <a:ext cx="10352713" cy="2571750"/>
          </a:xfrm>
          <a:prstGeom prst="roundRect">
            <a:avLst>
              <a:gd fmla="val 9289" name="adj"/>
            </a:avLst>
          </a:prstGeom>
          <a:solidFill>
            <a:srgbClr val="FFFFFF"/>
          </a:solidFill>
          <a:ln>
            <a:noFill/>
          </a:ln>
          <a:effectLst>
            <a:outerShdw blurRad="361950">
              <a:schemeClr val="dk1">
                <a:alpha val="5882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19643" y="3948315"/>
            <a:ext cx="10352713" cy="2571750"/>
          </a:xfrm>
          <a:prstGeom prst="roundRect">
            <a:avLst>
              <a:gd fmla="val 9289" name="adj"/>
            </a:avLst>
          </a:prstGeom>
          <a:solidFill>
            <a:srgbClr val="FFFFFF"/>
          </a:solidFill>
          <a:ln>
            <a:noFill/>
          </a:ln>
          <a:effectLst>
            <a:outerShdw blurRad="361950">
              <a:schemeClr val="dk1">
                <a:alpha val="5882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304925" y="4254502"/>
            <a:ext cx="9582150" cy="48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Objective approach for evaluation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1304925" y="4770937"/>
            <a:ext cx="9582150" cy="142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By adopting ISO/IEC 25000's structured methodology, this research supports comprehensive evaluation and generates actionable recommendations aligning with international practices to enhance system usability and organizational credibility.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1304925" y="1560110"/>
            <a:ext cx="9582150" cy="48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Comprehensive quality framework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304925" y="2076546"/>
            <a:ext cx="9582150" cy="142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ISO 25010 embedded within SQuaRE offers a defined model emphasizing eight software quality characteristics, facilitating systematic assessment and enabling continuous development of the MyKlinik.id system.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3873355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008100" y="1799048"/>
            <a:ext cx="368642" cy="3686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4636726" y="1463721"/>
            <a:ext cx="6886575" cy="76590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quality concerns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4636726" y="2046214"/>
            <a:ext cx="6891292" cy="982033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Issues such as page load delays, mobile interface inconsistency, and minor system errors impact user perception and operational smoothness.</a:t>
            </a:r>
            <a:endParaRPr/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16688" r="16688" t="0"/>
          <a:stretch/>
        </p:blipFill>
        <p:spPr>
          <a:xfrm>
            <a:off x="-1061158" y="1741145"/>
            <a:ext cx="4421505" cy="4421505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3873355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008100" y="3519373"/>
            <a:ext cx="368642" cy="3686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4636726" y="3182098"/>
            <a:ext cx="6886575" cy="7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User perception divergence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873355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008100" y="5239698"/>
            <a:ext cx="368642" cy="3686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4636726" y="4920230"/>
            <a:ext cx="6886575" cy="73418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Need for a structured evaluation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 Formulation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4636726" y="3789081"/>
            <a:ext cx="6891292" cy="982033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Admins, nurses, and doctors have varying opinions on system navigation, reliability, error mitigation, and data quality within MyKlinik.id.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4636726" y="5471644"/>
            <a:ext cx="6891292" cy="982033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Ensuring systematic analysis, as supported by ISO 25010, to address gaps in usability, performance efficiency, and security.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purposes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297192" y="1308287"/>
            <a:ext cx="4348638" cy="605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Detailed quality assessment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1321733" y="4762018"/>
            <a:ext cx="4414526" cy="62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Strategic recommendations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1309463" y="3025846"/>
            <a:ext cx="4348638" cy="6057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User feedback analysis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1297192" y="1670999"/>
            <a:ext cx="10128883" cy="120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Evaluating MyKlinik.id using ISO 25010 to analyze functional suitability, reliability, and data portability to provide insights into improvement areas.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1309463" y="3410120"/>
            <a:ext cx="1011661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Obtaining user perspectives across different roles to better understand system performance challenges and enhancement requirements.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321733" y="5149114"/>
            <a:ext cx="10170877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Generating improvement strategies based on findings to ensure the system evolves to meet clinical demands effectively.</a:t>
            </a:r>
            <a:endParaRPr/>
          </a:p>
        </p:txBody>
      </p:sp>
      <p:grpSp>
        <p:nvGrpSpPr>
          <p:cNvPr id="170" name="Google Shape;170;p7"/>
          <p:cNvGrpSpPr/>
          <p:nvPr/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171" name="Google Shape;171;p7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7"/>
            <p:cNvCxnSpPr/>
            <p:nvPr/>
          </p:nvCxnSpPr>
          <p:spPr>
            <a:xfrm>
              <a:off x="937708" y="1624780"/>
              <a:ext cx="0" cy="5245143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/>
        </p:nvSpPr>
        <p:spPr>
          <a:xfrm>
            <a:off x="476023" y="2472064"/>
            <a:ext cx="2851769" cy="149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Benefits of research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3340584" y="1688405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Adds practical insights on implementing ISO/IEC 25000 standards for system evaluation, encouraging broader adoption of quality benchmarks.</a:t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3340584" y="1249667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Contribution to software quality literature</a:t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3334188" y="3389806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Supports clinics in implementing tailored improvements to MyKlinik.id, ensuring the system aligns effectively with user needs and operational processes.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3334188" y="2951068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Operational enhancement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3327792" y="5099311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Demonstrates the applicability of ISO standards like ISO 25010 in assessing technical and functional aspects, fostering credibility in healthcare software solutions.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3327792" y="4660573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Framework adaptation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Gap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74058" y="1246531"/>
            <a:ext cx="10286584" cy="1680414"/>
          </a:xfrm>
          <a:prstGeom prst="roundRect">
            <a:avLst>
              <a:gd fmla="val 16667" name="adj"/>
            </a:avLst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 rot="1800000">
            <a:off x="569611" y="1606273"/>
            <a:ext cx="808893" cy="701803"/>
          </a:xfrm>
          <a:prstGeom prst="hexagon">
            <a:avLst>
              <a:gd fmla="val 28663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44528" y="1626422"/>
            <a:ext cx="1059059" cy="661505"/>
          </a:xfrm>
          <a:prstGeom prst="rect">
            <a:avLst/>
          </a:prstGeom>
          <a:noFill/>
          <a:ln>
            <a:noFill/>
          </a:ln>
        </p:spPr>
        <p:txBody>
          <a:bodyPr anchorCtr="1" anchor="ctr" bIns="47625" lIns="95250" spcFirstLastPara="1" rIns="95250" wrap="square" tIns="47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764307" y="1768865"/>
            <a:ext cx="9193296" cy="10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Previous studies often lack integration of all eight characteristics from the ISO 25010 model in assessing clinical systems' quality, particularly in real-world environments.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1760497" y="1366658"/>
            <a:ext cx="65345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Limited comprehensive evaluation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1255826" y="3051285"/>
            <a:ext cx="10286584" cy="1680414"/>
          </a:xfrm>
          <a:prstGeom prst="roundRect">
            <a:avLst>
              <a:gd fmla="val 16667" name="adj"/>
            </a:avLst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 rot="1800000">
            <a:off x="851379" y="3411028"/>
            <a:ext cx="808893" cy="701803"/>
          </a:xfrm>
          <a:prstGeom prst="hexagon">
            <a:avLst>
              <a:gd fmla="val 28663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26296" y="3431176"/>
            <a:ext cx="1059059" cy="661505"/>
          </a:xfrm>
          <a:prstGeom prst="rect">
            <a:avLst/>
          </a:prstGeom>
          <a:noFill/>
          <a:ln>
            <a:noFill/>
          </a:ln>
        </p:spPr>
        <p:txBody>
          <a:bodyPr anchorCtr="1" anchor="ctr" bIns="47625" lIns="95250" spcFirstLastPara="1" rIns="95250" wrap="square" tIns="47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2046075" y="3573620"/>
            <a:ext cx="9193296" cy="10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Current research does not fully address usability challenges related to mobile responsiveness and browser inconsistencies within clinical information systems.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2042265" y="3171413"/>
            <a:ext cx="65345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Mobile and browser compatibility concerns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547403" y="4876796"/>
            <a:ext cx="10286584" cy="1680414"/>
          </a:xfrm>
          <a:prstGeom prst="roundRect">
            <a:avLst>
              <a:gd fmla="val 16667" name="adj"/>
            </a:avLst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 rot="1800000">
            <a:off x="1142957" y="5236539"/>
            <a:ext cx="808893" cy="701803"/>
          </a:xfrm>
          <a:prstGeom prst="hexagon">
            <a:avLst>
              <a:gd fmla="val 28663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017873" y="5256687"/>
            <a:ext cx="1059059" cy="661505"/>
          </a:xfrm>
          <a:prstGeom prst="rect">
            <a:avLst/>
          </a:prstGeom>
          <a:noFill/>
          <a:ln>
            <a:noFill/>
          </a:ln>
        </p:spPr>
        <p:txBody>
          <a:bodyPr anchorCtr="1" anchor="ctr" bIns="47625" lIns="95250" spcFirstLastPara="1" rIns="95250" wrap="square" tIns="47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2337652" y="5399131"/>
            <a:ext cx="9193296" cy="10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Existing evaluations rarely focus on the effectiveness of automated mechanisms in managing duplicate records, which is critical for preserving patient data integrity.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2333842" y="4996923"/>
            <a:ext cx="65345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Automation deficits in data validation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/>
        </p:nvSpPr>
        <p:spPr>
          <a:xfrm>
            <a:off x="3947160" y="1300388"/>
            <a:ext cx="4297680" cy="1522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50" u="none" cap="none" strike="noStrike">
                <a:solidFill>
                  <a:srgbClr val="1ACA6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1811474" y="2886383"/>
            <a:ext cx="8569053" cy="2874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methodology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3283333" y="1796843"/>
            <a:ext cx="7497178" cy="972854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Quantitative descriptive research aims to quantify specific features of interest, employing data derived from structured instruments like questionnaires.</a:t>
            </a:r>
            <a:endParaRPr/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11788" r="11788" t="0"/>
          <a:stretch/>
        </p:blipFill>
        <p:spPr>
          <a:xfrm>
            <a:off x="1113196" y="1262384"/>
            <a:ext cx="1926336" cy="1682496"/>
          </a:xfrm>
          <a:prstGeom prst="hexagon">
            <a:avLst>
              <a:gd fmla="val 25000" name="adj"/>
              <a:gd fmla="val 115470" name="vf"/>
            </a:avLst>
          </a:prstGeom>
          <a:noFill/>
          <a:ln>
            <a:noFill/>
          </a:ln>
        </p:spPr>
      </p:pic>
      <p:pic>
        <p:nvPicPr>
          <p:cNvPr id="221" name="Google Shape;221;p11"/>
          <p:cNvPicPr preferRelativeResize="0"/>
          <p:nvPr/>
        </p:nvPicPr>
        <p:blipFill rotWithShape="1">
          <a:blip r:embed="rId5">
            <a:alphaModFix/>
          </a:blip>
          <a:srcRect b="0" l="17288" r="17288" t="0"/>
          <a:stretch/>
        </p:blipFill>
        <p:spPr>
          <a:xfrm>
            <a:off x="9176895" y="3043110"/>
            <a:ext cx="1926336" cy="1682496"/>
          </a:xfrm>
          <a:prstGeom prst="hexagon">
            <a:avLst>
              <a:gd fmla="val 25000" name="adj"/>
              <a:gd fmla="val 115470" name="vf"/>
            </a:avLst>
          </a:prstGeom>
          <a:noFill/>
          <a:ln>
            <a:noFill/>
          </a:ln>
        </p:spPr>
      </p:pic>
      <p:pic>
        <p:nvPicPr>
          <p:cNvPr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11874" r="11874" t="0"/>
          <a:stretch/>
        </p:blipFill>
        <p:spPr>
          <a:xfrm>
            <a:off x="1113196" y="4824531"/>
            <a:ext cx="1926336" cy="1682496"/>
          </a:xfrm>
          <a:prstGeom prst="hexagon">
            <a:avLst>
              <a:gd fmla="val 25000" name="adj"/>
              <a:gd fmla="val 115470" name="vf"/>
            </a:avLst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Types of research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3273808" y="1404023"/>
            <a:ext cx="6148089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Overview of quantitative descriptive research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1530470" y="3566057"/>
            <a:ext cx="7497178" cy="972854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User surveys based on ISO 25010 were employed to measure predefined software quality metrics.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1520945" y="3173238"/>
            <a:ext cx="6148089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Utilization of survey tools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3325984" y="5352046"/>
            <a:ext cx="7497178" cy="972854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This method is apt for systematically analyzing diverse user perceptions and deriving actionable insights.</a:t>
            </a:r>
            <a:endParaRPr/>
          </a:p>
        </p:txBody>
      </p:sp>
      <p:sp>
        <p:nvSpPr>
          <p:cNvPr id="228" name="Google Shape;228;p11"/>
          <p:cNvSpPr txBox="1"/>
          <p:nvPr/>
        </p:nvSpPr>
        <p:spPr>
          <a:xfrm>
            <a:off x="3316459" y="4959226"/>
            <a:ext cx="6148089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Importance in system quality studies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2"/>
          <p:cNvPicPr preferRelativeResize="0"/>
          <p:nvPr/>
        </p:nvPicPr>
        <p:blipFill rotWithShape="1">
          <a:blip r:embed="rId4">
            <a:alphaModFix/>
          </a:blip>
          <a:srcRect b="0" l="11440" r="11440" t="0"/>
          <a:stretch/>
        </p:blipFill>
        <p:spPr>
          <a:xfrm>
            <a:off x="640619" y="1239230"/>
            <a:ext cx="3783578" cy="504477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Object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Roles in operational management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MyKlinik.id oversees patient registration, medical record-keeping, transaction management, and operational reporting.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Requirement for quality assessment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Analyzing MyKlinik.id’s alignment with ISO/IEC 25000 standards ensures compliance with operational and strategic clinical needs.</a:t>
            </a:r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Presence in clinical operations</a:t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research focuses on MyKlinik.id, an application integral to multiple aspects of Isawa Beauty Clinic's operations.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/>
        </p:nvSpPr>
        <p:spPr>
          <a:xfrm>
            <a:off x="503731" y="1707455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sample includes admin staff (2 participants), clinic nurses (1 participant), and aesthetic physicians (2 participants).</a:t>
            </a:r>
            <a:endParaRPr/>
          </a:p>
        </p:txBody>
      </p:sp>
      <p:pic>
        <p:nvPicPr>
          <p:cNvPr id="258" name="Google Shape;258;p13"/>
          <p:cNvPicPr preferRelativeResize="0"/>
          <p:nvPr/>
        </p:nvPicPr>
        <p:blipFill rotWithShape="1">
          <a:blip r:embed="rId4">
            <a:alphaModFix/>
          </a:blip>
          <a:srcRect b="0" l="33495" r="33495" t="0"/>
          <a:stretch/>
        </p:blipFill>
        <p:spPr>
          <a:xfrm>
            <a:off x="8969010" y="1328023"/>
            <a:ext cx="2420771" cy="488892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Sample</a:t>
            </a:r>
            <a:endParaRPr/>
          </a:p>
        </p:txBody>
      </p:sp>
      <p:sp>
        <p:nvSpPr>
          <p:cNvPr id="260" name="Google Shape;260;p13"/>
          <p:cNvSpPr txBox="1"/>
          <p:nvPr/>
        </p:nvSpPr>
        <p:spPr>
          <a:xfrm>
            <a:off x="503731" y="1268717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Broad inclusion of stakeholders</a:t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497335" y="3427906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participants were chosen due to their consistent usage and familiarity with MyKlinik.id functionalities.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497335" y="2989168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Criteria for participant selection</a:t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490939" y="5118361"/>
            <a:ext cx="8109936" cy="1151241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This sample aids in capturing perspectives across different user roles, ensuring comprehensive feedback.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490939" y="4679623"/>
            <a:ext cx="7146070" cy="449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50" lIns="114300" spcFirstLastPara="1" rIns="114300" wrap="square" tIns="57150">
            <a:noAutofit/>
          </a:bodyPr>
          <a:lstStyle/>
          <a:p>
            <a:pPr indent="0" lvl="0" marL="0" marR="0" rtl="0" algn="l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Diversity in perspectives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794501" y="3329974"/>
            <a:ext cx="1005648" cy="1005648"/>
          </a:xfrm>
          <a:prstGeom prst="roundRect">
            <a:avLst>
              <a:gd fmla="val 1510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794501" y="5117778"/>
            <a:ext cx="1005648" cy="1005648"/>
          </a:xfrm>
          <a:prstGeom prst="roundRect">
            <a:avLst>
              <a:gd fmla="val 1510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Instruments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794501" y="1589794"/>
            <a:ext cx="1005648" cy="1005648"/>
          </a:xfrm>
          <a:prstGeom prst="roundRect">
            <a:avLst>
              <a:gd fmla="val 1510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2068768" y="3634626"/>
            <a:ext cx="9355961" cy="11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Responses were numerically gauged across a range from 1 (strongly disagree) to 5 (strongly agree), facilitating straightforward aggregation.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2068768" y="3097764"/>
            <a:ext cx="7126614" cy="582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Quantitative data expression</a:t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1083690" y="1852261"/>
            <a:ext cx="427271" cy="427271"/>
          </a:xfrm>
          <a:custGeom>
            <a:rect b="b" l="l" r="r" t="t"/>
            <a:pathLst>
              <a:path extrusionOk="0" h="304800" w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</a:path>
              <a:path extrusionOk="0" h="304800" w="304800"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1070766" y="3606239"/>
            <a:ext cx="453118" cy="453118"/>
          </a:xfrm>
          <a:custGeom>
            <a:rect b="b" l="l" r="r" t="t"/>
            <a:pathLst>
              <a:path extrusionOk="0"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extrusionOk="0"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extrusionOk="0"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7" name="Google Shape;277;p14"/>
          <p:cNvSpPr/>
          <p:nvPr/>
        </p:nvSpPr>
        <p:spPr>
          <a:xfrm>
            <a:off x="1078579" y="5401856"/>
            <a:ext cx="437493" cy="437493"/>
          </a:xfrm>
          <a:custGeom>
            <a:rect b="b" l="l" r="r" t="t"/>
            <a:pathLst>
              <a:path extrusionOk="0"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</a:path>
              <a:path extrusionOk="0" h="304800" w="304800"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</a:path>
              <a:path extrusionOk="0" h="304800" w="304800"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</a:path>
              <a:path extrusionOk="0" h="304800" w="304800"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</a:path>
              <a:path extrusionOk="0" h="304800" w="304800"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</a:path>
              <a:path extrusionOk="0" h="304800" w="304800"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8" name="Google Shape;278;p14"/>
          <p:cNvSpPr txBox="1"/>
          <p:nvPr/>
        </p:nvSpPr>
        <p:spPr>
          <a:xfrm>
            <a:off x="2068768" y="1867527"/>
            <a:ext cx="9355961" cy="1104421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evaluation was conducted using a Likert-scale questionnaire covering eight ISO 25010-defined software quality characteristics.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2068768" y="1330664"/>
            <a:ext cx="7126614" cy="582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Basis in the ISO 25010 model</a:t>
            </a:r>
            <a:endParaRPr/>
          </a:p>
        </p:txBody>
      </p:sp>
      <p:sp>
        <p:nvSpPr>
          <p:cNvPr id="280" name="Google Shape;280;p14"/>
          <p:cNvSpPr txBox="1"/>
          <p:nvPr/>
        </p:nvSpPr>
        <p:spPr>
          <a:xfrm>
            <a:off x="2068768" y="5332100"/>
            <a:ext cx="9355961" cy="111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By employing ISO standards, the instrument ensures reliability and relevance in measuring complex system features.</a:t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>
            <a:off x="2068768" y="4813719"/>
            <a:ext cx="7126614" cy="582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Standardized assessment approach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/>
        </p:nvSpPr>
        <p:spPr>
          <a:xfrm>
            <a:off x="3947160" y="1300388"/>
            <a:ext cx="4297680" cy="1522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50" u="none" cap="none" strike="noStrike">
                <a:solidFill>
                  <a:srgbClr val="1ACA6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1811474" y="2886383"/>
            <a:ext cx="8569053" cy="2874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Results and Discussion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/>
        </p:nvSpPr>
        <p:spPr>
          <a:xfrm>
            <a:off x="476023" y="265328"/>
            <a:ext cx="11239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Respondent Profile</a:t>
            </a:r>
            <a:endParaRPr/>
          </a:p>
        </p:txBody>
      </p:sp>
      <p:cxnSp>
        <p:nvCxnSpPr>
          <p:cNvPr id="293" name="Google Shape;293;p16"/>
          <p:cNvCxnSpPr/>
          <p:nvPr/>
        </p:nvCxnSpPr>
        <p:spPr>
          <a:xfrm>
            <a:off x="3939321" y="1483603"/>
            <a:ext cx="0" cy="4629523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p16"/>
          <p:cNvSpPr/>
          <p:nvPr/>
        </p:nvSpPr>
        <p:spPr>
          <a:xfrm>
            <a:off x="3782159" y="1586749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3834546" y="1639137"/>
            <a:ext cx="209550" cy="2095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4186783" y="1844271"/>
            <a:ext cx="7494623" cy="11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study involved a mix of respondents, including two administrative staff, one nurse, and two aesthetic doctors, ensuring insights from different operational levels of MyKlinik.id users.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4186783" y="1360960"/>
            <a:ext cx="6886575" cy="76590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Diverse organizational roles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4186783" y="3483832"/>
            <a:ext cx="7494623" cy="11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Each respondent played a critical part in providing feedback on the system's functional utility, operational efficiency, and reliability in their respective areas of responsibility.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4186783" y="3000522"/>
            <a:ext cx="6886575" cy="76590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Importance of respondent roles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4186783" y="5151401"/>
            <a:ext cx="7494623" cy="11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Although the study surveyed five individuals, their roles cover key operational workflows, thereby offering a comprehensive understanding of system performance.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4186783" y="4658564"/>
            <a:ext cx="6886575" cy="765904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Representative sample size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3782159" y="3226311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3834546" y="3278698"/>
            <a:ext cx="209550" cy="2095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3782159" y="4893879"/>
            <a:ext cx="314325" cy="314325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3834546" y="4946267"/>
            <a:ext cx="209550" cy="2095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394" y="2087173"/>
            <a:ext cx="3411571" cy="3171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7"/>
          <p:cNvGrpSpPr/>
          <p:nvPr/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312" name="Google Shape;312;p17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5" name="Google Shape;315;p17"/>
            <p:cNvCxnSpPr/>
            <p:nvPr/>
          </p:nvCxnSpPr>
          <p:spPr>
            <a:xfrm>
              <a:off x="937708" y="1624780"/>
              <a:ext cx="0" cy="5245143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316" name="Google Shape;316;p1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of Assessments per Characteristic</a:t>
            </a:r>
            <a:endParaRPr/>
          </a:p>
        </p:txBody>
      </p:sp>
      <p:pic>
        <p:nvPicPr>
          <p:cNvPr id="317" name="Google Shape;3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599" y="1444608"/>
            <a:ext cx="6476999" cy="4752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/>
          <p:nvPr/>
        </p:nvSpPr>
        <p:spPr>
          <a:xfrm>
            <a:off x="3947160" y="1300388"/>
            <a:ext cx="4297680" cy="1522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50" u="none" cap="none" strike="noStrike">
                <a:solidFill>
                  <a:srgbClr val="1ACA6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1811474" y="2886383"/>
            <a:ext cx="8569053" cy="2874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 and Suggestions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/>
          <p:nvPr/>
        </p:nvSpPr>
        <p:spPr>
          <a:xfrm>
            <a:off x="1685901" y="1362476"/>
            <a:ext cx="8946338" cy="5557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quality rated at 3.97/5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1685901" y="2024509"/>
            <a:ext cx="8972550" cy="76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The MyKlinik.id system demonstrated "good" overall quality, aligning with user needs and other ISO 25010 indicators.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</a:t>
            </a:r>
            <a:endParaRPr/>
          </a:p>
        </p:txBody>
      </p:sp>
      <p:grpSp>
        <p:nvGrpSpPr>
          <p:cNvPr id="331" name="Google Shape;331;p19"/>
          <p:cNvGrpSpPr/>
          <p:nvPr/>
        </p:nvGrpSpPr>
        <p:grpSpPr>
          <a:xfrm>
            <a:off x="838598" y="1564792"/>
            <a:ext cx="353467" cy="353467"/>
            <a:chOff x="838598" y="1564792"/>
            <a:chExt cx="353467" cy="353467"/>
          </a:xfrm>
        </p:grpSpPr>
        <p:sp>
          <p:nvSpPr>
            <p:cNvPr id="332" name="Google Shape;332;p19"/>
            <p:cNvSpPr/>
            <p:nvPr/>
          </p:nvSpPr>
          <p:spPr>
            <a:xfrm>
              <a:off x="920082" y="1646276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838598" y="1564792"/>
              <a:ext cx="353467" cy="353467"/>
            </a:xfrm>
            <a:prstGeom prst="ellipse">
              <a:avLst/>
            </a:prstGeom>
            <a:solidFill>
              <a:schemeClr val="accent1">
                <a:alpha val="1607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19"/>
          <p:cNvSpPr txBox="1"/>
          <p:nvPr/>
        </p:nvSpPr>
        <p:spPr>
          <a:xfrm>
            <a:off x="1685901" y="3189254"/>
            <a:ext cx="8946338" cy="5557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Performance efficiency optimization needed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1685901" y="3851288"/>
            <a:ext cx="8972550" cy="76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Delayed loading times during peak hours and intensive module access show performance bottlenecks requiring server configuration upgrades and database query optimization.</a:t>
            </a:r>
            <a:endParaRPr/>
          </a:p>
        </p:txBody>
      </p:sp>
      <p:grpSp>
        <p:nvGrpSpPr>
          <p:cNvPr id="336" name="Google Shape;336;p19"/>
          <p:cNvGrpSpPr/>
          <p:nvPr/>
        </p:nvGrpSpPr>
        <p:grpSpPr>
          <a:xfrm>
            <a:off x="838598" y="3391571"/>
            <a:ext cx="353467" cy="353467"/>
            <a:chOff x="838598" y="3391571"/>
            <a:chExt cx="353467" cy="353467"/>
          </a:xfrm>
        </p:grpSpPr>
        <p:sp>
          <p:nvSpPr>
            <p:cNvPr id="337" name="Google Shape;337;p19"/>
            <p:cNvSpPr/>
            <p:nvPr/>
          </p:nvSpPr>
          <p:spPr>
            <a:xfrm>
              <a:off x="920082" y="3473055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838598" y="3391571"/>
              <a:ext cx="353467" cy="353467"/>
            </a:xfrm>
            <a:prstGeom prst="ellipse">
              <a:avLst/>
            </a:prstGeom>
            <a:solidFill>
              <a:schemeClr val="accent1">
                <a:alpha val="1607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19"/>
          <p:cNvSpPr txBox="1"/>
          <p:nvPr/>
        </p:nvSpPr>
        <p:spPr>
          <a:xfrm>
            <a:off x="1685901" y="4975292"/>
            <a:ext cx="8946338" cy="5557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Improvements in maintenance and data validation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1685901" y="5637325"/>
            <a:ext cx="8972550" cy="76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Lack of comprehensive technical documentation and duplicate patient records indicate the need for enhanced maintainability processes and data integrity protocols.</a:t>
            </a:r>
            <a:endParaRPr/>
          </a:p>
        </p:txBody>
      </p:sp>
      <p:grpSp>
        <p:nvGrpSpPr>
          <p:cNvPr id="341" name="Google Shape;341;p19"/>
          <p:cNvGrpSpPr/>
          <p:nvPr/>
        </p:nvGrpSpPr>
        <p:grpSpPr>
          <a:xfrm>
            <a:off x="838598" y="5177608"/>
            <a:ext cx="353467" cy="353467"/>
            <a:chOff x="838598" y="5177608"/>
            <a:chExt cx="353467" cy="353467"/>
          </a:xfrm>
        </p:grpSpPr>
        <p:sp>
          <p:nvSpPr>
            <p:cNvPr id="342" name="Google Shape;342;p19"/>
            <p:cNvSpPr/>
            <p:nvPr/>
          </p:nvSpPr>
          <p:spPr>
            <a:xfrm>
              <a:off x="920082" y="5259092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838598" y="5177608"/>
              <a:ext cx="353467" cy="353467"/>
            </a:xfrm>
            <a:prstGeom prst="ellipse">
              <a:avLst/>
            </a:prstGeom>
            <a:solidFill>
              <a:schemeClr val="accent1">
                <a:alpha val="1607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4" name="Google Shape;344;p19"/>
          <p:cNvCxnSpPr/>
          <p:nvPr/>
        </p:nvCxnSpPr>
        <p:spPr>
          <a:xfrm>
            <a:off x="1015332" y="1728028"/>
            <a:ext cx="0" cy="5214957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/>
          <p:nvPr/>
        </p:nvSpPr>
        <p:spPr>
          <a:xfrm>
            <a:off x="1540645" y="1641772"/>
            <a:ext cx="1049655" cy="9791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707332" y="1785885"/>
            <a:ext cx="716280" cy="69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FFFDF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25" u="none" cap="none" strike="noStrike">
              <a:solidFill>
                <a:srgbClr val="FFFDF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2815769" y="1445091"/>
            <a:ext cx="7852817" cy="618651"/>
          </a:xfrm>
          <a:prstGeom prst="rect">
            <a:avLst/>
          </a:prstGeom>
          <a:noFill/>
          <a:ln>
            <a:noFill/>
          </a:ln>
        </p:spPr>
        <p:txBody>
          <a:bodyPr anchorCtr="0" anchor="b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Enhance system performance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2815769" y="2040792"/>
            <a:ext cx="7869353" cy="902129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Conduct server optimization and refine database queries to reduce response time during peak usage and improve operational reliability.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2815769" y="3143851"/>
            <a:ext cx="7852817" cy="563658"/>
          </a:xfrm>
          <a:prstGeom prst="rect">
            <a:avLst/>
          </a:prstGeom>
          <a:noFill/>
          <a:ln>
            <a:noFill/>
          </a:ln>
        </p:spPr>
        <p:txBody>
          <a:bodyPr anchorCtr="0" anchor="b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Implement stricter data validation mechanisms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2815769" y="3684559"/>
            <a:ext cx="7869555" cy="902129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Introduce automated checks during data entry to mitigate duplication risks and ensure the accuracy of patient medical records.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2799031" y="4717412"/>
            <a:ext cx="7869555" cy="691975"/>
          </a:xfrm>
          <a:prstGeom prst="rect">
            <a:avLst/>
          </a:prstGeom>
          <a:noFill/>
          <a:ln>
            <a:noFill/>
          </a:ln>
        </p:spPr>
        <p:txBody>
          <a:bodyPr anchorCtr="0" anchor="b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Strengthen technical documentation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2799031" y="5386437"/>
            <a:ext cx="7869555" cy="902129"/>
          </a:xfrm>
          <a:prstGeom prst="rect">
            <a:avLst/>
          </a:prstGeom>
          <a:noFill/>
          <a:ln>
            <a:noFill/>
          </a:ln>
        </p:spPr>
        <p:txBody>
          <a:bodyPr anchorCtr="0" anchor="t" bIns="33050" lIns="66000" spcFirstLastPara="1" rIns="66000" wrap="square" tIns="3305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Provide detailed onboarding and technical guides for new staff to improve system familiarity and minimize training inefficiencies.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Suggestion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1540645" y="3341211"/>
            <a:ext cx="1049655" cy="9791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1707332" y="3485324"/>
            <a:ext cx="716280" cy="69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FFFDF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25" u="none" cap="none" strike="noStrike">
              <a:solidFill>
                <a:srgbClr val="FFFDF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540645" y="5027093"/>
            <a:ext cx="1049655" cy="9791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1707332" y="5171206"/>
            <a:ext cx="716280" cy="69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FFFDF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25" u="none" cap="none" strike="noStrike">
              <a:solidFill>
                <a:srgbClr val="FFFDF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"/>
          <p:cNvSpPr txBox="1"/>
          <p:nvPr/>
        </p:nvSpPr>
        <p:spPr>
          <a:xfrm>
            <a:off x="3560913" y="1312852"/>
            <a:ext cx="7804501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Improve user interface responsiveness</a:t>
            </a:r>
            <a:endParaRPr/>
          </a:p>
        </p:txBody>
      </p:sp>
      <p:cxnSp>
        <p:nvCxnSpPr>
          <p:cNvPr id="367" name="Google Shape;367;p21"/>
          <p:cNvCxnSpPr/>
          <p:nvPr/>
        </p:nvCxnSpPr>
        <p:spPr>
          <a:xfrm>
            <a:off x="1197254" y="5988003"/>
            <a:ext cx="10998321" cy="0"/>
          </a:xfrm>
          <a:prstGeom prst="straightConnector1">
            <a:avLst/>
          </a:prstGeom>
          <a:solidFill>
            <a:schemeClr val="accent1"/>
          </a:solidFill>
          <a:ln cap="flat" cmpd="sng" w="142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8" name="Google Shape;368;p21"/>
          <p:cNvSpPr txBox="1"/>
          <p:nvPr/>
        </p:nvSpPr>
        <p:spPr>
          <a:xfrm>
            <a:off x="3560913" y="1927072"/>
            <a:ext cx="7804501" cy="120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Optimize mobile interface designs and browser compatibility to facilitate seamless access across devices.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1183473" y="3943665"/>
            <a:ext cx="7806355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</a:rPr>
              <a:t>Educate staff on data security protocols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1183473" y="4571667"/>
            <a:ext cx="7806355" cy="1203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Noto Sans SC"/>
                <a:ea typeface="Noto Sans SC"/>
                <a:cs typeface="Noto Sans SC"/>
                <a:sym typeface="Noto Sans SC"/>
              </a:rPr>
              <a:t> Develop comprehensive training programs to instill best practices for patient data protection and system hygiene.</a:t>
            </a:r>
            <a:endParaRPr/>
          </a:p>
        </p:txBody>
      </p:sp>
      <p:cxnSp>
        <p:nvCxnSpPr>
          <p:cNvPr id="371" name="Google Shape;371;p21"/>
          <p:cNvCxnSpPr/>
          <p:nvPr/>
        </p:nvCxnSpPr>
        <p:spPr>
          <a:xfrm>
            <a:off x="3574694" y="3297546"/>
            <a:ext cx="8614217" cy="0"/>
          </a:xfrm>
          <a:prstGeom prst="straightConnector1">
            <a:avLst/>
          </a:prstGeom>
          <a:solidFill>
            <a:schemeClr val="accent1"/>
          </a:solidFill>
          <a:ln cap="flat" cmpd="sng" w="142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2" name="Google Shape;372;p2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3825" lIns="123825" spcFirstLastPara="1" rIns="57150" wrap="square" tIns="1238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Noto Sans SC"/>
                <a:ea typeface="Noto Sans SC"/>
                <a:cs typeface="Noto Sans SC"/>
                <a:sym typeface="Noto Sans SC"/>
              </a:rPr>
              <a:t>Suggestion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/>
          <p:nvPr/>
        </p:nvSpPr>
        <p:spPr>
          <a:xfrm>
            <a:off x="1418202" y="2604450"/>
            <a:ext cx="101265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0" u="none" cap="none" strike="noStrike">
                <a:solidFill>
                  <a:srgbClr val="152815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8754169" y="3555870"/>
            <a:ext cx="2291779" cy="716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CA6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52815"/>
      </a:dk1>
      <a:lt1>
        <a:srgbClr val="F9F9F9"/>
      </a:lt1>
      <a:dk2>
        <a:srgbClr val="152815"/>
      </a:dk2>
      <a:lt2>
        <a:srgbClr val="D9DEDA"/>
      </a:lt2>
      <a:accent1>
        <a:srgbClr val="1ACA6E"/>
      </a:accent1>
      <a:accent2>
        <a:srgbClr val="23CCAF"/>
      </a:accent2>
      <a:accent3>
        <a:srgbClr val="3BDB94"/>
      </a:accent3>
      <a:accent4>
        <a:srgbClr val="2ECBDA"/>
      </a:accent4>
      <a:accent5>
        <a:srgbClr val="90AC9D"/>
      </a:accent5>
      <a:accent6>
        <a:srgbClr val="2F572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